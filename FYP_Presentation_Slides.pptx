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AI-Powered Student Academic
Performance Prediction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A623"/>
                </a:solidFill>
              </a:rPr>
              <a:t>A Dual-Pipeline Machine Learning Approach with Explainable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Mishael Evivie Edegwa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DC8E8"/>
                </a:solidFill>
              </a:rPr>
              <a:t>Final Year Project  |  BSc Computer Science  | 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A0C0"/>
                </a:solidFill>
              </a:rP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01  Introduction &amp; Motivation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02  Problem Statement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03  Research Objectives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04  Literature Review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05  System Architecture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06  Datasets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07  Model Development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08  Experimental Results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09  SHAP Explainability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10  System Implementation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11  Discussion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1E1E1E"/>
                </a:solidFill>
              </a:rPr>
              <a:t>12  Conclusion &amp; 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08760"/>
            <a:ext cx="36576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Why does early academic risk detection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Student academic failure carries high personal, institutional, and societal costs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Traditional early-warning systems rely on end-of-semester grades — too late to intervene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AI and machine learning enable prediction from mid-semester signals</a:t>
            </a:r>
          </a:p>
          <a:p>
            <a:pPr lvl="1"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Continuous assessment (CA) scores, attendance, and behavioural data</a:t>
            </a:r>
          </a:p>
          <a:p>
            <a:pPr lvl="1"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Learning Management System (LMS) engagement data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Nigerian secondary school context: sparse digital infrastructure, heterogeneous data formats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Gap: most existing systems target higher education in Western contexts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This project builds a Nigeria-ready, dual-pipeline, explainable AI prediction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5029200"/>
            <a:ext cx="3474720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120 students  •  4 terms  •  10 subjects
Dual-source data (Academic + LMS)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132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Schools lack proactive, data-driven mechanisms to identify at-risk students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Existing manual systems are reactive: intervention occurs after failure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Siloed data: academic records and LMS engagement data are rarely combined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Lack of model transparency: black-box predictions are distrusted by educators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E1E1E"/>
                </a:solidFill>
              </a:rPr>
              <a:t>Class imbalance: failing students are a minority, biasing naive classifiers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508760"/>
            <a:ext cx="3931920" cy="4754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RQ1: Can ML models predict
next-term risk with &gt;85% accuracy?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9718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RQ2: Does LMS engagement
add predictive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840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RQ3: Which features are
most predictive?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7091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RQ4: Can the system be deployed
in a real school environment?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0972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0136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6550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Develop an academic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Predict next-term at-risk status from CA scores, attendance, and behavioural ratings using Random Forest and Gradient Boosting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51176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42616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10972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52344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Build an LMS engagement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9900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Assess whether login frequency, session duration, submission rate, forum activity, and video completion predict academic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02152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9359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02152"/>
            <a:ext cx="10972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7033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5570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Implement explainable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9410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Use SHAP values to reveal which features drive individual and global predictions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53128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445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53128"/>
            <a:ext cx="10972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54296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507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Deploy a production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8920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Serve predictions via a FastAPI backend and Streamlit dashboard with JWT-secured role-based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04104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9554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04104"/>
            <a:ext cx="10972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605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458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Compare model families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584301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Benchmark Random Forest and GBM against Logistic Regression, Decision Trees, and k-NN baselines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What have prior studies found?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430000" cy="86868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Traditional ML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1790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Logistic Regression, SVM, Decision Trees dominate early work.
Random Forest consistently outperforms simpler models (Cortez &amp; Silva 2008; Kotsiantis 2012).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11430000" cy="86868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323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Deep Learning for EDM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3230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LSTMs capture temporal progression of student performance across terms.
Requires large datasets (&gt;10 000 records); limited evidence in African contexts.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11430000" cy="86868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LMS Engagement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4670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Login frequency and assignment submission predict pass/fail with moderate accuracy.
Engagement alone is insufficient without academic context (Romero &amp; Ventura 2020).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11430000" cy="86868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6110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Explainability / XAI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61103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SHAP is now the dominant framework for explaining tree ensembles.
Educators require explanations to trust AI recommendations (Arrieta et al. 2020).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430000" cy="86868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7550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Nigerian / African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75503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Very limited published work on ML-based early warning in Sub-Saharan Africa.
Data scarcity, infrastructure gaps, and privacy concerns are key challenges.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035040"/>
            <a:ext cx="11430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Research Gap:  No study combines academic + LMS data with SHAP explainability in a Nigerian secondary-school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Dual-pipeline prediction with explainability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120640" cy="4937760"/>
          </a:xfrm>
          <a:prstGeom prst="rect">
            <a:avLst/>
          </a:prstGeom>
          <a:solidFill>
            <a:srgbClr val="E4EFFB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ACADEMIC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Raw CSV (CA scores, attendance, behaviour)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Clean &amp; Prepare (handle missing, encode gender)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638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Term-level Feature Engineering (17 features)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5760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1246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StratifiedGroupKFold CV (k=5, group=StudentID)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06240"/>
            <a:ext cx="475488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Random Forest  +  Gradient Boosting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54879"/>
            <a:ext cx="475488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0974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Soft-Voting Ensemble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03519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5838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SHAP Explainability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1417320"/>
            <a:ext cx="5120640" cy="4937760"/>
          </a:xfrm>
          <a:prstGeom prst="rect">
            <a:avLst/>
          </a:prstGeom>
          <a:solidFill>
            <a:srgbClr val="FBF0E4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5087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4000"/>
                </a:solidFill>
              </a:rPr>
              <a:t>LMS ENGAGEMENT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01168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0665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LMS CSV (logins, sessions, submissions ...)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56032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Normalise (divide logins by 90 days/term)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310896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638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5 Engagement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657600"/>
            <a:ext cx="4754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71246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</a:rPr>
              <a:t>StratifiedKFold CV (k=5)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206240"/>
            <a:ext cx="4754880" cy="457200"/>
          </a:xfrm>
          <a:prstGeom prst="rect">
            <a:avLst/>
          </a:prstGeom>
          <a:solidFill>
            <a:srgbClr val="80400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26110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LMS Random Forest  +  LMS 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754879"/>
            <a:ext cx="4754880" cy="457200"/>
          </a:xfrm>
          <a:prstGeom prst="rect">
            <a:avLst/>
          </a:prstGeom>
          <a:solidFill>
            <a:srgbClr val="80400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480974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Outcome: near-random AUC (0.48)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5303519"/>
            <a:ext cx="4754880" cy="457200"/>
          </a:xfrm>
          <a:prstGeom prst="rect">
            <a:avLst/>
          </a:prstGeom>
          <a:solidFill>
            <a:srgbClr val="80400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35838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Finding: LMS alone insufficient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383280"/>
            <a:ext cx="6858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79008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A5C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Two independently sourced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7784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57784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Academic Dataset  (demo_train.csv)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2,880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120  (unique)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540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540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4  (2024_T1 – 2025_T2)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Subjects per 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95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Class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050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JSS 1–3, SS 1–3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Features (engineered)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80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560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560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next-term at-risk  (binary)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315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31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Pseudonymised school records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17320"/>
            <a:ext cx="557784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5577840" cy="502920"/>
          </a:xfrm>
          <a:prstGeom prst="rect">
            <a:avLst/>
          </a:prstGeom>
          <a:solidFill>
            <a:srgbClr val="8B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LMS Dataset  (ml_student_data.csv)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031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03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1,545  students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786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Class: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5786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1,176  (76.1%)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0540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Class: 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054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369  (23.9%)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295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Input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5295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5  engagement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05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Login normalisation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0050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÷90 days per term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pass / fail  (binary)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9560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9560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Simulated LMS log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315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Imbalance handling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4315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E00"/>
                </a:solidFill>
              </a:rPr>
              <a:t>balanced_subsample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17 features derived per student per 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657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Academic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avg_ca_pct  – mean CA % across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237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avg_overall_pct  – mean final grade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44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subject_failure_count  – # subjects with outcome =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6499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failure_rate  – subject_failure_count / subject_count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78561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prev_ca_pct  – prior-term CA average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600200"/>
            <a:ext cx="3657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645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avg_attendance  – mean attendance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5237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min_attendance  – worst-subject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944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attendance_trend  – change from previous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36499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prev_attendance  – prior-term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78561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low_attendance_flag  – 1 if avg &lt; 0.75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600200"/>
            <a:ext cx="3657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645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Interaction &amp;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ca_x_attendance  – avg_ca × avg_attendance  (top SHAP feature)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5237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ca_trend  – change in CA from previous term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944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low_ca_flag  – 1 if avg_ca &lt; 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36499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avg_behavior  – mean behavioural 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8561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subject_count  – number of subjects taken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Term Num  – sequential term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268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• Gender Enc  – binary encoded gender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035040"/>
            <a:ext cx="11430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Key insight:  ca_x_attendance (interaction term) is the single most predictive feature (SHAP importance 28.5%)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Random Forest + Gradient Boosting in a soft-voting ensemble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657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179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n_estimators = 500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max_features = sqrt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min_samples_split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min_samples_leaf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class_weight = balanced_subsample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4187952"/>
            <a:ext cx="3511296" cy="8686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245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6575"/>
                </a:solidFill>
              </a:rPr>
              <a:t>Addresses class imbalance at tree level; no feature scaling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4630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463040"/>
            <a:ext cx="3657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179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Gradient Boosting (XGB)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84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n_estimators = 300 estimators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87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learning_rate = 0.03  (slow &amp; careful)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8950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max_depth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918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subsample = 0.8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694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compute_sample_weight('balanced')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4187952"/>
            <a:ext cx="3511296" cy="8686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2245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6575"/>
                </a:solidFill>
              </a:rPr>
              <a:t>Slow learning rate with large n_estimators prevents overfitting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4630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463040"/>
            <a:ext cx="3657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15179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Soft-Voting 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84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Combine RF + XGB probabilities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487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y_prob = (rf_prob + xgb_prob) /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8950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Threshold = 0.50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Equal weighting (no meta-learner)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3785615"/>
            <a:ext cx="3511296" cy="8686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822191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6575"/>
                </a:solidFill>
              </a:rPr>
              <a:t>Averaging probabilities reduces variance while preserving both models' strengths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89320"/>
            <a:ext cx="11430000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8076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Cross-Validation:  StratifiedGroupKFold (k=5, group=Student ID)  –  prevents term-level leakage within the same student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Academic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5-fold StratifiedGroupKFold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Random Forest  (Production 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2677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</a:t>
            </a:r>
          </a:p>
          <a:p>
            <a:pPr algn="ctr"/>
            <a:r>
              <a:rPr sz="2800" b="1">
                <a:solidFill>
                  <a:srgbClr val="F5A623"/>
                </a:solidFill>
              </a:rPr>
              <a:t>92.5%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874519"/>
            <a:ext cx="22677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Precision</a:t>
            </a:r>
          </a:p>
          <a:p>
            <a:pPr algn="ctr"/>
            <a:r>
              <a:rPr sz="2800" b="1">
                <a:solidFill>
                  <a:srgbClr val="F5A623"/>
                </a:solidFill>
              </a:rPr>
              <a:t>80.3%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874519"/>
            <a:ext cx="22677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Recall</a:t>
            </a:r>
          </a:p>
          <a:p>
            <a:pPr algn="ctr"/>
            <a:r>
              <a:rPr sz="2800" b="1">
                <a:solidFill>
                  <a:srgbClr val="F5A623"/>
                </a:solidFill>
              </a:rPr>
              <a:t>79.7%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7397496" y="1874519"/>
            <a:ext cx="22677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7223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 Score</a:t>
            </a:r>
          </a:p>
          <a:p>
            <a:pPr algn="ctr"/>
            <a:r>
              <a:rPr sz="2800" b="1">
                <a:solidFill>
                  <a:srgbClr val="F5A623"/>
                </a:solidFill>
              </a:rPr>
              <a:t>80.0%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9756648" y="1874519"/>
            <a:ext cx="22677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66376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AUC-ROC</a:t>
            </a:r>
          </a:p>
          <a:p>
            <a:pPr algn="ctr"/>
            <a:r>
              <a:rPr sz="2800" b="1">
                <a:solidFill>
                  <a:srgbClr val="F5A623"/>
                </a:solidFill>
              </a:rPr>
              <a:t>0.9651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8D4"/>
                </a:solidFill>
              </a:rPr>
              <a:t>Gradient Boosting  /  Ensemble RF+GBM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1143000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3703320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03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703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03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703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33087"/>
            <a:ext cx="1143000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4197096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1E"/>
                </a:solidFill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97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92.5%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197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80.3%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79.7%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97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80.0%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1970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0.9651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608575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59" y="4672583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1E"/>
                </a:solidFill>
              </a:rPr>
              <a:t>Gradient Boosting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672583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91.9%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672583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78.6%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72583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672583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77.5%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672583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0.9687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084064"/>
            <a:ext cx="11430000" cy="457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5148072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1E"/>
                </a:solidFill>
              </a:rPr>
              <a:t>Ensemble RF+GBM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1480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92.5%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1480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80.1%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1480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78.8%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1480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79.4%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148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0.9665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Best single model:  Gradient Boosting (AUC 0.9687)    Best balanced model:  Random Forest (F1 80.0%)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Baseline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20% group-holdout split for Logistic Regression, Decision Tree, k-NN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43000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" y="155448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15544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5544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15544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15544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155448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2176" y="15544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93392"/>
            <a:ext cx="11430000" cy="475488"/>
          </a:xfrm>
          <a:prstGeom prst="rect">
            <a:avLst/>
          </a:prstGeom>
          <a:solidFill>
            <a:srgbClr val="D6EA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5" y="205740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1E1E"/>
                </a:solidFill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0574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92.5%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0574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0574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0574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0574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2176" y="20574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CV (k=5)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87168"/>
            <a:ext cx="11430000" cy="475488"/>
          </a:xfrm>
          <a:prstGeom prst="rect">
            <a:avLst/>
          </a:prstGeom>
          <a:solidFill>
            <a:srgbClr val="D6EA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5" y="255117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1E1E"/>
                </a:solidFill>
              </a:rPr>
              <a:t>Gradient 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255117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91.9%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55117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78.6%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55117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255117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77.5%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551176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0.9687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2176" y="255117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CV (k=5)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80944"/>
            <a:ext cx="11430000" cy="475488"/>
          </a:xfrm>
          <a:prstGeom prst="rect">
            <a:avLst/>
          </a:prstGeom>
          <a:solidFill>
            <a:srgbClr val="FFF8DD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5" y="3044952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1E1E"/>
                </a:solidFill>
              </a:rPr>
              <a:t>Ensemble RF+GBM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2656" y="30449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92.5%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30449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80.1%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30449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78.8%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30449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79.4%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304495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0.9665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30449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CV (k=5)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474720"/>
            <a:ext cx="114300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5" y="353872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Logistic Regression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353872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70.1%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353872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52.3%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1616" y="353872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48.7%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353872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50.4%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9136" y="353872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0.7612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52176" y="353872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Holdout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968496"/>
            <a:ext cx="114300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5" y="4032504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Decision Tree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62656" y="40325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78.4%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7136" y="40325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61.2%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71616" y="40325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57.9%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6096" y="40325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59.5%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89136" y="403250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0.7201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2176" y="40325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Holdout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462272"/>
            <a:ext cx="114300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5" y="452628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k-Nearest Neighbours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2656" y="45262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72.9%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7136" y="45262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55.8%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71616" y="45262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51.3%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6096" y="45262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53.4%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89136" y="452628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0.7145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52176" y="452628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Holdout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919472"/>
            <a:ext cx="114300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RF/Ensemble improve Accuracy by +14 pp, F1 by +26 pp, and AUC by +0.24 over the best baseline (Decision Tree)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5486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5"/>
                </a:solidFill>
              </a:rPr>
              <a:t>Note: baselines use a single holdout split; RF/Ensemble use 5-fold CV – results are conservative for RF/Ensemble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Conclusion:  Ensemble ML models dramatically outperform traditional classifiers for academic risk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LMS Engagement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Can engagement data alone predict academic outcomes?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04000"/>
                </a:solidFill>
              </a:rPr>
              <a:t>LMS Random Forest  (5-fold CV)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651760" cy="1188720"/>
          </a:xfrm>
          <a:prstGeom prst="rect">
            <a:avLst/>
          </a:prstGeom>
          <a:solidFill>
            <a:srgbClr val="8B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65960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</a:t>
            </a:r>
          </a:p>
          <a:p>
            <a:pPr algn="ctr"/>
            <a:r>
              <a:rPr sz="2800" b="1">
                <a:solidFill>
                  <a:srgbClr val="FFCC55"/>
                </a:solidFill>
              </a:rPr>
              <a:t>73.1%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74519"/>
            <a:ext cx="2651760" cy="1188720"/>
          </a:xfrm>
          <a:prstGeom prst="rect">
            <a:avLst/>
          </a:prstGeom>
          <a:solidFill>
            <a:srgbClr val="8B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965960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 Score</a:t>
            </a:r>
          </a:p>
          <a:p>
            <a:pPr algn="ctr"/>
            <a:r>
              <a:rPr sz="2800" b="1">
                <a:solidFill>
                  <a:srgbClr val="FFCC55"/>
                </a:solidFill>
              </a:rPr>
              <a:t>84.3%*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897879" y="1874519"/>
            <a:ext cx="2651760" cy="1188720"/>
          </a:xfrm>
          <a:prstGeom prst="rect">
            <a:avLst/>
          </a:prstGeom>
          <a:solidFill>
            <a:srgbClr val="8B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7" y="1965960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AUC-ROC</a:t>
            </a:r>
          </a:p>
          <a:p>
            <a:pPr algn="ctr"/>
            <a:r>
              <a:rPr sz="2800" b="1">
                <a:solidFill>
                  <a:srgbClr val="FFCC55"/>
                </a:solidFill>
              </a:rPr>
              <a:t>0.4815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8D4"/>
                </a:solidFill>
              </a:rPr>
              <a:t>LMS XGBoost  (20% holdout)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3320"/>
            <a:ext cx="2651760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794759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62.5%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703320"/>
            <a:ext cx="2651760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3794759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 Score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75.2%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897879" y="3703320"/>
            <a:ext cx="2651760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3794759"/>
            <a:ext cx="2432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AUC-ROC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0.4826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417320"/>
            <a:ext cx="3200400" cy="5074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Why AUC ≈ 0.48?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05740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AUC = 0.5 means random chance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71576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LMS engagement features alone do NOT separate pass from 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3374135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1,176 passers vs 369 failers—the imbalance overwhelms the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032503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High F1 (84%) is misleading — it reflects majority-class recall, not discrimination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4690871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LMS logs without academic context lack predictive power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Key Finding:  LMS engagement is a necessary but not sufficient predictor. Academic features must lead; LMS can supplement.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SHAP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Understanding what drives individual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5"/>
                </a:solidFill>
              </a:rPr>
              <a:t>SHapley Additive exPlanations (SHAP) decompose each prediction into per-feature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58521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585216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65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Global Feature Importance  (mean |SHAP|)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871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ca_x_attendance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542032"/>
            <a:ext cx="2880360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248716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28.5%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3464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avg_ca_pct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89504"/>
            <a:ext cx="1728216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834640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17.2%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18211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failure_rate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236976"/>
            <a:ext cx="1280160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3182112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12.8%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295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avg_attendance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584448"/>
            <a:ext cx="1024128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3529584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10.1%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87705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attendance_trend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931920"/>
            <a:ext cx="768096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3877056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7.6%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2245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ca_trend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279392"/>
            <a:ext cx="640080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22452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6.2%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5720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avg_overall_pct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626864"/>
            <a:ext cx="512064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4572000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5.1%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9194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subject_failure_count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974336"/>
            <a:ext cx="448056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4919472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4.4%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669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prev_ca_pct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5321807"/>
            <a:ext cx="352044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3844" y="5266944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6144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</a:rPr>
              <a:t>min_attendance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669279"/>
            <a:ext cx="288036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9836" y="5614416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 2.8%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920240"/>
            <a:ext cx="5349240" cy="43434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How to read the SHAP 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51460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▶ Positive SHAP: feature pushes toward 'at-risk'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1729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▶ Negative SHAP: feature pushes toward 'safe'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831335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▶ ca_x_attendance being top feature confirms that the joint signal (low CA AND low attendance) is far more dangerous than either alone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489703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▶ The system generates per-student waterfall charts so teachers see exactly why a student was flagged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148071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▶ avg_behavior and Gender Enc have near-zero SHAP values – behavioural scores and gender are not strong predictors in this dataset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SHAP bridges the gap between model accuracy and educator trust  —  transparency is not optional in EdTech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What happens when we remove feature groups?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5"/>
                </a:solidFill>
              </a:rPr>
              <a:t>Ablation removes one feature category at a time and re-evaluates the RF model under the same 5-fold CV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143000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96596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9659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659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659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1965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Δ vs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04872"/>
            <a:ext cx="11430000" cy="493776"/>
          </a:xfrm>
          <a:prstGeom prst="rect">
            <a:avLst/>
          </a:prstGeom>
          <a:solidFill>
            <a:srgbClr val="D6EA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247802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7C10"/>
                </a:solidFill>
              </a:rPr>
              <a:t>All 17 features (baseline)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478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07C10"/>
                </a:solidFill>
              </a:rPr>
              <a:t>92.5%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78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07C10"/>
                </a:solidFill>
              </a:rPr>
              <a:t>80.0%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78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07C10"/>
                </a:solidFill>
              </a:rPr>
              <a:t>0.9651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07C10"/>
                </a:solidFill>
              </a:rPr>
              <a:t>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16936"/>
            <a:ext cx="114300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99008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Without ca_x_attendance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9900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89.1%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900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75.3%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9900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0.9412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9900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50000"/>
                </a:solidFill>
              </a:rPr>
              <a:t>− 3.4 pp 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29000"/>
            <a:ext cx="114300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350215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Without attendance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35021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87.8%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5021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5021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0.9241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5021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50000"/>
                </a:solidFill>
              </a:rPr>
              <a:t>− 7.4 pp F1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41064"/>
            <a:ext cx="114300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" y="401421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Without trend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40142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90.2%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0142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77.1%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0142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0.9530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40142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50000"/>
                </a:solidFill>
              </a:rPr>
              <a:t>− 2.9 pp 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53128"/>
            <a:ext cx="114300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452628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Without prior-term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452628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88.5%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52628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74.4%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52628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0.9365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4526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50000"/>
                </a:solidFill>
              </a:rPr>
              <a:t>− 5.6 pp F1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965192"/>
            <a:ext cx="11430000" cy="493776"/>
          </a:xfrm>
          <a:prstGeom prst="rect">
            <a:avLst/>
          </a:prstGeom>
          <a:solidFill>
            <a:srgbClr val="FFEEE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503834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Academic features only (no flags)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59" y="50383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86.3%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0383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70.9%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0383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1E1E"/>
                </a:solidFill>
              </a:rPr>
              <a:t>0.9182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50383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50000"/>
                </a:solidFill>
              </a:rPr>
              <a:t>− 9.1 pp F1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Removing the ca_x_attendance interaction causes the steepest AUC drop (−0.024),
confirming its central role in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Production-ready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749039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  (Streamlit)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Upload academic CSV or LMS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Risk dashboard with colour-coded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Per-student SHAP waterfall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Export PDF / Excel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513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Role-aware UI: Admin vs. Teacher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3749039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508760"/>
            <a:ext cx="3749039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  (FastAPI)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JWT authentication (python-jose)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6151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Argon2 password hashing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Role-based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639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/predict/academic  and  /predict/lms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513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SHAP value generation on inference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508760"/>
            <a:ext cx="3749039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508760"/>
            <a:ext cx="3749039" cy="475488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Layer  (MySQL / TiDB)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SQLAlchemy 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151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Pseudonymised Student 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Audit log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39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PyMySQL connector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1513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✔  TiDB Cloud (serverless tier)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</a:rPr>
              <a:t>Deployed on Render.com  |  HTTPS  |  Models serialised with joblib  |  ReportLab PDF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Interpreting the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64592" cy="868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63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RQ1 – Accuracy &gt; 85%?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YES. Random Forest achieves 92.5% accuracy and AUC 0.9651 under strict group-held-out CV. The research question is answered affirmatively.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164592" cy="86868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0000"/>
                </a:solidFill>
              </a:rPr>
              <a:t>RQ2 – Does LMS add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146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PARTIALLY. LMS features alone produce near-random AUC (~0.48). Combined with academic features, engagement data could provide incremental gain but requires richer, real-world LMS logs.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375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164592" cy="868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92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RQ3 – Most predictive feature?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4290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ca_x_attendance (SHAP 28.5%). The interaction between continuous assessment performance and class attendance is the dominant signal, more predictive than either variable in isolation.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251960"/>
            <a:ext cx="164592" cy="868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06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RQ4 – Real deployment?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3434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YES. The system is live on Render.com with JWT auth, role-based access, and PDF reporting. It successfully processed predictions for 120 students across 4 terms.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66360"/>
            <a:ext cx="11430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166360"/>
            <a:ext cx="164592" cy="86868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21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5"/>
                </a:solidFill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25780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Dataset is limited to 120 students from a single institution. LMS data is simulated. LSTM architecture was implemented but not deployed (insufficient sequence data). Generalisation requires broader multi-school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</a:rPr>
              <a:t>This project successfully designed, trained, and deployed an AI-powered dual-pipeline system
for early academic risk prediction in a Nigerian secondary school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31720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36829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Random Forest achieved 92.5% accuracy and AUC 0.9651 — well above the 85% target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07208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8437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The ensemble (RF + GBM) maintains comparable accuracy with higher discriminative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82696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3192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ca_x_attendance is the most powerful single predictor (SHAP 28.5%), a novel finding for this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58183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79475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1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LMS engagement data alone is insufficient — engagement must complement, not replace, academic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33671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270247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519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SHAP explainability addresses educator trust by making predictions interpretable and actionable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9159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74573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27447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The system is production-deployed with JWT security, role-based access, and automated report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84647"/>
            <a:ext cx="457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5221223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5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The architecture is extensible: additional data sources (library usage, counsellor notes) can be integrated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053328"/>
            <a:ext cx="11430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The system demonstrates that interpretable ML can meaningfully improve student support in resource-constrained environments.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6692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179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Short-term (0–6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Pilot deployment with a real partner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31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Collect authentic LMS login/session logs to validate LMS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Add multi-class risk tiers (low / medium / high / critical)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Implement teacher notification alerts (email / SMS)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465575"/>
            <a:ext cx="56692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52043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Medium-term (6–18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Multi-school validation study (5+ institutions)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336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Fine-tune LSTM model with &gt;1,000 student longitudinal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99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Integrate counsellor notes via NLP sentiment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5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Regulatory: obtain IRB-equivalent ethics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63040"/>
            <a:ext cx="5669280" cy="384048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179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Long-term (18+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65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National early-warning framework for Nigerian secondary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31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Federated learning to train across schools without sharing raw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96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Reinforcement learning for personalised intervention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62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Publish dataset (anonymised) to support reproducibility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65575"/>
            <a:ext cx="56692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52043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679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Ministry of Education to fund school-LMS integration projects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336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Train teachers on AI-assisted risk flagging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99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Establish data governance protocols for student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965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1E1E"/>
                </a:solidFill>
              </a:rPr>
              <a:t>• Include XAI literacy in teacher CPD programmes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Selected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[1]  Cortez, P. &amp; Silva, A. (2008). Using data mining to predict secondary school student performance. EUROSIS.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3391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[2]  Kotsiantis, S. B. (2012). Use of machine learning techniques for educational proposes: A decision support system. Int. Journal of Teaching and Case Studies, 3(2).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2303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[3]  Romero, C. &amp; Ventura, S. (2020). Educational data mining and learning analytics: An updated survey. WIREs Data Mining and Knowledge Discovery, 10(3).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5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[4]  Lundberg, S. M. &amp; Lee, S.-I. (2017). A unified approach to interpreting model predictions. NeurIPS 30.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7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[5]  Breiman, L. (2001). Random forests. Machine Learning, 45(1), 5–32.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[6]  Friedman, J. H. (2001). Greedy function approximation: A gradient boosting machine. Annals of Statistics, 29(5), 1189–1232.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[7]  Arrieta, A. B. et al. (2020). Explainable Artificial Intelligence (XAI): Concepts, taxonomies, opportunities and challenges. Information Fusion, 58, 82–115.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2686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[8]  Pedregosa, F. et al. (2011). Scikit-learn: Machine Learning in Python. JMLR, 12, 2825–2830.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6577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[9]  Chen, T. &amp; Guestrin, C. (2016). XGBoost: A scalable tree boosting system. KDD.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468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[10]  Hochreiter, S. &amp; Schmidhuber, J. (1997). Long Short-Term Memory. Neural Computation, 9(8), 1735–1780.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5A623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Mishael Evivie Edegwa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DC8E8"/>
                </a:solidFill>
              </a:rPr>
              <a:t>mishaeledegwa@gmail.com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A0C0"/>
                </a:solidFill>
              </a:rPr>
              <a:t>RF: Acc 92.5%  |  AUC 0.9651  |  F1 80.0%   ●   ca_x_attendance: top feature (28.5%)   ●   Deployed on 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